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pa.png"/>
          <p:cNvPicPr>
            <a:picLocks noChangeAspect="1"/>
          </p:cNvPicPr>
          <p:nvPr/>
        </p:nvPicPr>
        <p:blipFill>
          <a:blip r:embed="rId2"/>
          <a:srcRect l="27180" r="27180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868680"/>
            <a:ext cx="2534920" cy="274320"/>
          </a:xfrm>
          <a:prstGeom prst="roundRect">
            <a:avLst>
              <a:gd name="adj" fmla="val 50000"/>
            </a:avLst>
          </a:prstGeom>
          <a:solidFill>
            <a:srgbClr val="101B31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850" b="1">
                <a:solidFill>
                  <a:srgbClr val="2563EB"/>
                </a:solidFill>
                <a:latin typeface="Segoe UI"/>
              </a:rPr>
              <a:t>PROJETO PEX · MANAUS/AM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852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Smart Parking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563EB"/>
                </a:solidFill>
                <a:latin typeface="Segoe UI"/>
              </a:rPr>
              <a:t>Monitoramento inteligente de vagas de shopping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5760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93A4C3"/>
                </a:solidFill>
                <a:latin typeface="Segoe UI"/>
              </a:rPr>
              <a:t>Menos tempo procurando vaga. Mais tempo no shopping. App do motorista, painel do gestor
e sensores IoT — validados de ponta a ponta, com falhas zero na véspera da entrega.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92040"/>
            <a:ext cx="1847088" cy="105156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02920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Breno Santos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76672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93A4C3"/>
                </a:solidFill>
                <a:latin typeface="Segoe UI"/>
              </a:rPr>
              <a:t>Autor · Liderança · Desenvolvimento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96896" y="4892040"/>
            <a:ext cx="1847088" cy="105156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34056" y="502920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Gabriel Almeida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4056" y="5376672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93A4C3"/>
                </a:solidFill>
                <a:latin typeface="Segoe UI"/>
              </a:rPr>
              <a:t>Desenvolvimento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53712" y="4892040"/>
            <a:ext cx="1847088" cy="105156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502920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Jonas Almeida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5376672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93A4C3"/>
                </a:solidFill>
                <a:latin typeface="Segoe UI"/>
              </a:rPr>
              <a:t>Desenvolvimento de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72200"/>
            <a:ext cx="5760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5C6F92"/>
                </a:solidFill>
                <a:latin typeface="Segoe UI"/>
              </a:rPr>
              <a:t>FastAPI · React Native (Expo) · PostgreSQL · Docker · MIT License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180253" cy="274320"/>
          </a:xfrm>
          <a:prstGeom prst="roundRect">
            <a:avLst>
              <a:gd name="adj" fmla="val 50000"/>
            </a:avLst>
          </a:prstGeom>
          <a:solidFill>
            <a:srgbClr val="101B31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850" b="1">
                <a:solidFill>
                  <a:srgbClr val="2563EB"/>
                </a:solidFill>
                <a:latin typeface="Segoe U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Estacionar é o pior pedaço de ir ao shopping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Smart Parking · pitch PEX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73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02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679192" cy="178308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94560"/>
            <a:ext cx="23134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9DC1FF"/>
                </a:solidFill>
                <a:latin typeface="Segoe UI"/>
              </a:rPr>
              <a:t>~20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88920"/>
            <a:ext cx="23134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93A4C3"/>
                </a:solidFill>
                <a:latin typeface="Segoe UI"/>
              </a:rPr>
              <a:t>tempo médio girando até achar vaga em shoppings cheios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965960"/>
            <a:ext cx="2679192" cy="178308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2194560"/>
            <a:ext cx="23134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9DC1FF"/>
                </a:solidFill>
                <a:latin typeface="Segoe UI"/>
              </a:rPr>
              <a:t>0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788920"/>
            <a:ext cx="23134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93A4C3"/>
                </a:solidFill>
                <a:latin typeface="Segoe UI"/>
              </a:rPr>
              <a:t>gestor decide lotação no olhômetro; histórico não vira relatório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1965960"/>
            <a:ext cx="2679192" cy="178308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2194560"/>
            <a:ext cx="23134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9DC1FF"/>
                </a:solidFill>
                <a:latin typeface="Segoe UI"/>
              </a:rPr>
              <a:t>RISCO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788920"/>
            <a:ext cx="23134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93A4C3"/>
                </a:solidFill>
                <a:latin typeface="Segoe UI"/>
              </a:rPr>
              <a:t>vagas PCD/idoso ocupadas indevidamente — direito desrespeitado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26296" y="1965960"/>
            <a:ext cx="2679192" cy="178308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09176" y="2194560"/>
            <a:ext cx="23134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9DC1FF"/>
                </a:solidFill>
                <a:latin typeface="Segoe UI"/>
              </a:rPr>
              <a:t>fila no portão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9176" y="2788920"/>
            <a:ext cx="23134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93A4C3"/>
                </a:solidFill>
                <a:latin typeface="Segoe UI"/>
              </a:rPr>
              <a:t>sem reserva nem leitura de placa, pico vira gargalo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E6EDF7"/>
                </a:solidFill>
                <a:latin typeface="Segoe UI"/>
              </a:rPr>
              <a:t>Shoppings de Manaus operam com planilha e catraca manual. O motorista paga em tempo,
combustível e estresse; o shopping, em ocupação mal distribuída e receita não medida.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112520" cy="274320"/>
          </a:xfrm>
          <a:prstGeom prst="roundRect">
            <a:avLst>
              <a:gd name="adj" fmla="val 50000"/>
            </a:avLst>
          </a:prstGeom>
          <a:solidFill>
            <a:srgbClr val="101B31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850" b="1">
                <a:solidFill>
                  <a:srgbClr val="2563EB"/>
                </a:solidFill>
                <a:latin typeface="Segoe UI"/>
              </a:rPr>
              <a:t>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Um sistema, três pontas: motorista · gestor · sensor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Smart Parking · pitch PEX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73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03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520440" cy="210312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75104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📱  App do motorista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31720"/>
            <a:ext cx="3118104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93A4C3"/>
                </a:solidFill>
                <a:latin typeface="Segoe UI"/>
              </a:rPr>
              <a:t>Mapa de vagas por andar em tempo real, "próxima vaga" atribuída
por algoritmo, reserva, cancelamento, perfil e pagamento.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828800"/>
            <a:ext cx="3520440" cy="210312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975104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🖥️  Painel do gestor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331720"/>
            <a:ext cx="3118104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93A4C3"/>
                </a:solidFill>
                <a:latin typeface="Segoe UI"/>
              </a:rPr>
              <a:t>Ocupação, CRUD de estacionamentos/andares/vagas em lote, relatórios
e faturamento, usuários, pagamentos e simulador QR de portaria.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828800"/>
            <a:ext cx="3520440" cy="210312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975104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📡  Sensores IoT (RF-45)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331720"/>
            <a:ext cx="3118104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93A4C3"/>
                </a:solidFill>
                <a:latin typeface="Segoe UI"/>
              </a:rPr>
              <a:t>Dispositivos reportam livre/ocupada sem login humano, com chave única,
idempotência por sequência e revogação instantânea.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416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93A4C3"/>
                </a:solidFill>
                <a:latin typeface="Segoe UI"/>
              </a:rPr>
              <a:t>Diferencial de cidadania (RF-47): o algoritmo nunca entrega vaga PCD a quem não se declarou,
bloqueia reserva indevida com explicação e, sem PCD livre, rebaixa com aviso transparente — sem lockout.</a:t>
            </a:r>
          </a:p>
        </p:txBody>
      </p:sp>
      <p:pic>
        <p:nvPicPr>
          <p:cNvPr id="17" name="Picture 16" descr="sensores.png"/>
          <p:cNvPicPr>
            <a:picLocks noChangeAspect="1"/>
          </p:cNvPicPr>
          <p:nvPr/>
        </p:nvPicPr>
        <p:blipFill>
          <a:blip r:embed="rId2"/>
          <a:srcRect t="38557" b="38557"/>
          <a:stretch>
            <a:fillRect/>
          </a:stretch>
        </p:blipFill>
        <p:spPr>
          <a:xfrm>
            <a:off x="640080" y="4983480"/>
            <a:ext cx="10881360" cy="1389888"/>
          </a:xfrm>
          <a:prstGeom prst="rect">
            <a:avLst/>
          </a:prstGeom>
          <a:ln w="12700">
            <a:solidFill>
              <a:srgbClr val="1E3050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925320" cy="274320"/>
          </a:xfrm>
          <a:prstGeom prst="roundRect">
            <a:avLst>
              <a:gd name="adj" fmla="val 50000"/>
            </a:avLst>
          </a:prstGeom>
          <a:solidFill>
            <a:srgbClr val="101B31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850" b="1">
                <a:solidFill>
                  <a:srgbClr val="2563EB"/>
                </a:solidFill>
                <a:latin typeface="Segoe UI"/>
              </a:rPr>
              <a:t>O PRODUTO · MOTORISTA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Quatro toques entre "cheguei" e "estacionei"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Smart Parking · pitch PEX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73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04 / 12</a:t>
            </a:r>
          </a:p>
        </p:txBody>
      </p:sp>
      <p:pic>
        <p:nvPicPr>
          <p:cNvPr id="7" name="Picture 6" descr="motorista.png"/>
          <p:cNvPicPr>
            <a:picLocks noChangeAspect="1"/>
          </p:cNvPicPr>
          <p:nvPr/>
        </p:nvPicPr>
        <p:blipFill>
          <a:blip r:embed="rId2"/>
          <a:srcRect l="26080" r="26080"/>
          <a:stretch>
            <a:fillRect/>
          </a:stretch>
        </p:blipFill>
        <p:spPr>
          <a:xfrm>
            <a:off x="8092440" y="1645920"/>
            <a:ext cx="3566160" cy="4160520"/>
          </a:xfrm>
          <a:prstGeom prst="rect">
            <a:avLst/>
          </a:prstGeom>
          <a:ln w="12700">
            <a:solidFill>
              <a:srgbClr val="1E3050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640080" y="1828800"/>
            <a:ext cx="7178040" cy="713232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01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🔍 Explorar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93A4C3"/>
                </a:solidFill>
                <a:latin typeface="Segoe UI"/>
              </a:rPr>
              <a:t>shoppings, distância e vagas livres ao vivo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79192"/>
            <a:ext cx="7178040" cy="713232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52344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🗺️ Mapa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44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93A4C3"/>
                </a:solidFill>
                <a:latin typeface="Segoe UI"/>
              </a:rPr>
              <a:t>andares e células por status e tipo (PCD/idoso/moto/elétrica)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29584"/>
            <a:ext cx="7178040" cy="713232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02736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🎯 Próxima vaga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95344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93A4C3"/>
                </a:solidFill>
                <a:latin typeface="Segoe UI"/>
              </a:rPr>
              <a:t>atribuição automática — nunca PCD às cegas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79976"/>
            <a:ext cx="7178040" cy="713232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53128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✅ Reserva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45736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93A4C3"/>
                </a:solidFill>
                <a:latin typeface="Segoe UI"/>
              </a:rPr>
              <a:t>confirmada; cancelar devolve a vaga ao mapa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40096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93A4C3"/>
                </a:solidFill>
                <a:latin typeface="Segoe UI"/>
              </a:rPr>
              <a:t>Perfil com placa, login por e-mail OU telefone e cache offline no subsolo. Seed demo: 8 shoppings de Manaus e 420 vagas em 4 andares só no Amazonas Shopping.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722120" cy="274320"/>
          </a:xfrm>
          <a:prstGeom prst="roundRect">
            <a:avLst>
              <a:gd name="adj" fmla="val 50000"/>
            </a:avLst>
          </a:prstGeom>
          <a:solidFill>
            <a:srgbClr val="101B31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850" b="1">
                <a:solidFill>
                  <a:srgbClr val="2563EB"/>
                </a:solidFill>
                <a:latin typeface="Segoe UI"/>
              </a:rPr>
              <a:t>O PRODUTO · GESTOR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Operação e dinheiro no mesmo painel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Smart Parking · pitch PEX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73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05 / 12</a:t>
            </a:r>
          </a:p>
        </p:txBody>
      </p:sp>
      <p:pic>
        <p:nvPicPr>
          <p:cNvPr id="7" name="Picture 6" descr="gestor.png"/>
          <p:cNvPicPr>
            <a:picLocks noChangeAspect="1"/>
          </p:cNvPicPr>
          <p:nvPr/>
        </p:nvPicPr>
        <p:blipFill>
          <a:blip r:embed="rId2"/>
          <a:srcRect l="26080" r="26080"/>
          <a:stretch>
            <a:fillRect/>
          </a:stretch>
        </p:blipFill>
        <p:spPr>
          <a:xfrm>
            <a:off x="8092440" y="1645920"/>
            <a:ext cx="3566160" cy="4160520"/>
          </a:xfrm>
          <a:prstGeom prst="rect">
            <a:avLst/>
          </a:prstGeom>
          <a:ln w="12700">
            <a:solidFill>
              <a:srgbClr val="1E3050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640080" y="1828800"/>
            <a:ext cx="7178040" cy="1170432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6766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🏬  Operação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6812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93A4C3"/>
                </a:solidFill>
                <a:latin typeface="Segoe UI"/>
              </a:rPr>
              <a:t>criar/editar estacionamento, andares, vagas em lote com códigos sequenciais e status manual quando o sensor falha — tudo reflete no app em segundos.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54680"/>
            <a:ext cx="7178040" cy="1170432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64408"/>
            <a:ext cx="6766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💰  Financeiro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6812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93A4C3"/>
                </a:solidFill>
                <a:latin typeface="Segoe UI"/>
              </a:rPr>
              <a:t>pagamentos com registro, geração de Pix copia-e-cola e confirmação; relatórios de ocupação e faturamento por período e estacionamento.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80560"/>
            <a:ext cx="7178040" cy="1170432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590288"/>
            <a:ext cx="6766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🔐  Controle &amp; sensores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56048"/>
            <a:ext cx="6812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93A4C3"/>
                </a:solidFill>
                <a:latin typeface="Segoe UI"/>
              </a:rPr>
              <a:t>usuários por papel (admin/gestor/financeiro), emissão e revogação de chave de sensor e simulador de QR para a portaria.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5216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93A4C3"/>
                </a:solidFill>
                <a:latin typeface="Segoe UI"/>
              </a:rPr>
              <a:t>Multi-tenant desde o MVP: o gestor vê só o próprio estacionamento — escopo aplicado no backend, não no olhar.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789853" cy="274320"/>
          </a:xfrm>
          <a:prstGeom prst="roundRect">
            <a:avLst>
              <a:gd name="adj" fmla="val 50000"/>
            </a:avLst>
          </a:prstGeom>
          <a:solidFill>
            <a:srgbClr val="101B31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850" b="1">
                <a:solidFill>
                  <a:srgbClr val="2563EB"/>
                </a:solidFill>
                <a:latin typeface="Segoe UI"/>
              </a:rPr>
              <a:t>COMO FOI CONSTRUÍDO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Arquitetura enxuta, camadas limpas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Smart Parking · pitch PEX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73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06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881360" cy="713232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75104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9DC1FF"/>
                </a:solidFill>
                <a:latin typeface="Segoe UI"/>
              </a:rPr>
              <a:t>📱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956816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80" b="0">
                <a:solidFill>
                  <a:srgbClr val="93A4C3"/>
                </a:solidFill>
                <a:latin typeface="Segoe UI"/>
              </a:rPr>
              <a:t>React Native + Expo SDK 57 · TypeScript · NativeWind — um código para Android, iOS e web (11 telas)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33472"/>
            <a:ext cx="10881360" cy="713232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2549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9DC1FF"/>
                </a:solidFill>
                <a:latin typeface="Segoe UI"/>
              </a:rPr>
              <a:t>🌐 Borda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807208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80" b="0">
                <a:solidFill>
                  <a:srgbClr val="93A4C3"/>
                </a:solidFill>
                <a:latin typeface="Segoe UI"/>
              </a:rPr>
              <a:t>nginx (dev/prod): proxy, cabeçalhos de segurança, CORS restrito · docker compose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83864"/>
            <a:ext cx="10881360" cy="713232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7588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9DC1FF"/>
                </a:solidFill>
                <a:latin typeface="Segoe UI"/>
              </a:rPr>
              <a:t>⚙️ API · 71 rotas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657600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80" b="0">
                <a:solidFill>
                  <a:srgbClr val="93A4C3"/>
                </a:solidFill>
                <a:latin typeface="Segoe UI"/>
              </a:rPr>
              <a:t>FastAPI + SQLAlchemy · Pydantic · 4 routers (motorista, admin, auth, sensores) · gunicorn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34256"/>
            <a:ext cx="10881360" cy="713232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262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9DC1FF"/>
                </a:solidFill>
                <a:latin typeface="Segoe UI"/>
              </a:rPr>
              <a:t>🗄️ Dados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507992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80" b="0">
                <a:solidFill>
                  <a:srgbClr val="93A4C3"/>
                </a:solidFill>
                <a:latin typeface="Segoe UI"/>
              </a:rPr>
              <a:t>PostgreSQL 15 (SQLite no dev) · migrações Alembic · seed com 8 shoppings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84648"/>
            <a:ext cx="10881360" cy="713232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37667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9DC1FF"/>
                </a:solidFill>
                <a:latin typeface="Segoe UI"/>
              </a:rPr>
              <a:t>📡 Dispositivos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5358384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80" b="0">
                <a:solidFill>
                  <a:srgbClr val="93A4C3"/>
                </a:solidFill>
                <a:latin typeface="Segoe UI"/>
              </a:rPr>
              <a:t>ingestão HTTP com X-Device-Key (SHA-256 no banco) e idempotência por seq — sem JWT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089903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93A4C3"/>
                </a:solidFill>
                <a:latin typeface="Segoe UI"/>
              </a:rPr>
              <a:t>19 pull requests squash-merged · commits rastreáveis por marca de entrega · CI obrigatório verde.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534920" cy="274320"/>
          </a:xfrm>
          <a:prstGeom prst="roundRect">
            <a:avLst>
              <a:gd name="adj" fmla="val 50000"/>
            </a:avLst>
          </a:prstGeom>
          <a:solidFill>
            <a:srgbClr val="101B31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850" b="1">
                <a:solidFill>
                  <a:srgbClr val="2563EB"/>
                </a:solidFill>
                <a:latin typeface="Segoe UI"/>
              </a:rPr>
              <a:t>SEGURANÇA &amp; CONTROLE DE ACESSO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Não é promessa de design — é matriz executada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Smart Parking · pitch PEX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73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07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520440" cy="228600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75104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🔑  Identidade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31720"/>
            <a:ext cx="311810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93A4C3"/>
                </a:solidFill>
                <a:latin typeface="Segoe UI"/>
              </a:rPr>
              <a:t>JWT curto + refresh; revogação por jti e por "usuário desde T" —
trocar senha ou bloquear derruba todas as sessões.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828800"/>
            <a:ext cx="3520440" cy="228600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975104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🧾  Anti-replay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331720"/>
            <a:ext cx="311810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93A4C3"/>
                </a:solidFill>
                <a:latin typeface="Segoe UI"/>
              </a:rPr>
              <a:t>assinatura HMAC obrigatória em toda mutação + janela de timestamp:
Postman/curl repetindo requisição alheia é barrado no middleware.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828800"/>
            <a:ext cx="3520440" cy="228600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975104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🛡️  Defesa em profundidade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331720"/>
            <a:ext cx="311810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93A4C3"/>
                </a:solidFill>
                <a:latin typeface="Segoe UI"/>
              </a:rPr>
              <a:t>escopo por estacionamento no servidor, cabeçalhos de segurança,
TLS documentado (teste Wireshark), validadores de payload.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15968"/>
            <a:ext cx="2679192" cy="86868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4443984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BBF24"/>
                </a:solidFill>
                <a:latin typeface="Segoe UI"/>
              </a:rPr>
              <a:t>401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480560"/>
            <a:ext cx="1645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93A4C3"/>
                </a:solidFill>
                <a:latin typeface="Segoe UI"/>
              </a:rPr>
              <a:t>sem token · chave revogada · sessão morta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1568" y="4315968"/>
            <a:ext cx="2679192" cy="86868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443984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BBF24"/>
                </a:solidFill>
                <a:latin typeface="Segoe UI"/>
              </a:rPr>
              <a:t>403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4480560"/>
            <a:ext cx="1645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93A4C3"/>
                </a:solidFill>
                <a:latin typeface="Segoe UI"/>
              </a:rPr>
              <a:t>papel errado não opera vaga nem reserva PCD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4315968"/>
            <a:ext cx="2679192" cy="86868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4443984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BBF24"/>
                </a:solidFill>
                <a:latin typeface="Segoe UI"/>
              </a:rPr>
              <a:t>410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3176" y="4480560"/>
            <a:ext cx="1645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93A4C3"/>
                </a:solidFill>
                <a:latin typeface="Segoe UI"/>
              </a:rPr>
              <a:t>QR revogado não reanima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4544" y="4315968"/>
            <a:ext cx="2679192" cy="86868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89136" y="4443984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BBF24"/>
                </a:solidFill>
                <a:latin typeface="Segoe UI"/>
              </a:rPr>
              <a:t>429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4664" y="4480560"/>
            <a:ext cx="1645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93A4C3"/>
                </a:solidFill>
                <a:latin typeface="Segoe UI"/>
              </a:rPr>
              <a:t>brute-force e flood com Retry-After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406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93A4C3"/>
                </a:solidFill>
                <a:latin typeface="Segoe UI"/>
              </a:rPr>
              <a:t>Cada código acima tem checkpoint de E2E que o produziu ao vivo (matriz 27/27 · jornadas D3e, D5a, D6e, D7d).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196253" cy="274320"/>
          </a:xfrm>
          <a:prstGeom prst="roundRect">
            <a:avLst>
              <a:gd name="adj" fmla="val 50000"/>
            </a:avLst>
          </a:prstGeom>
          <a:solidFill>
            <a:srgbClr val="101B31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850" b="1">
                <a:solidFill>
                  <a:srgbClr val="2563EB"/>
                </a:solidFill>
                <a:latin typeface="Segoe UI"/>
              </a:rPr>
              <a:t>QUALIDADE · COMO PROVAMOS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Falhas zero não é adjetivo. É exit 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Smart Parking · pitch PEX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73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08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6126480" cy="3977639"/>
          </a:xfrm>
          <a:prstGeom prst="roundRect">
            <a:avLst>
              <a:gd name="adj" fmla="val 5500"/>
            </a:avLst>
          </a:prstGeom>
          <a:solidFill>
            <a:srgbClr val="050B18"/>
          </a:solidFill>
          <a:ln w="9525">
            <a:solidFill>
              <a:srgbClr val="1D2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9DC1FF"/>
                </a:solidFill>
                <a:latin typeface="Consolas"/>
              </a:rPr>
              <a:t>$ ./scripts/e2e_validacao.sh --full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34D399"/>
                </a:solidFill>
                <a:latin typeface="Consolas"/>
              </a:rPr>
              <a:t>✔ A · conexão (porta, LAN, CORS, .env)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4096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34D399"/>
                </a:solidFill>
                <a:latin typeface="Consolas"/>
              </a:rPr>
              <a:t>✔ B · smoke MVP ........... 10 OK / 0 FAIL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34D399"/>
                </a:solidFill>
                <a:latin typeface="Consolas"/>
              </a:rPr>
              <a:t>✔ C · matriz de acesso .... 27 OK / 0 FAIL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78224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34D399"/>
                </a:solidFill>
                <a:latin typeface="Consolas"/>
              </a:rPr>
              <a:t>✔ D · jornadas D1–D7 ..... 28/28 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90288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34D399"/>
                </a:solidFill>
                <a:latin typeface="Consolas"/>
              </a:rPr>
              <a:t>✔ E · 51 pytest + ruff limpo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02352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34D399"/>
                </a:solidFill>
                <a:latin typeface="Consolas"/>
              </a:rPr>
              <a:t>✔ F · tsc limpo   → exit 0</a:t>
            </a:r>
          </a:p>
        </p:txBody>
      </p:sp>
      <p:pic>
        <p:nvPicPr>
          <p:cNvPr id="15" name="Picture 14" descr="qualidade.png"/>
          <p:cNvPicPr>
            <a:picLocks noChangeAspect="1"/>
          </p:cNvPicPr>
          <p:nvPr/>
        </p:nvPicPr>
        <p:blipFill>
          <a:blip r:embed="rId2"/>
          <a:srcRect t="3417" b="3417"/>
          <a:stretch>
            <a:fillRect/>
          </a:stretch>
        </p:blipFill>
        <p:spPr>
          <a:xfrm>
            <a:off x="7086600" y="1828800"/>
            <a:ext cx="4572000" cy="2377440"/>
          </a:xfrm>
          <a:prstGeom prst="rect">
            <a:avLst/>
          </a:prstGeom>
          <a:ln w="12700">
            <a:solidFill>
              <a:srgbClr val="1E3050"/>
            </a:solidFill>
          </a:ln>
        </p:spPr>
      </p:pic>
      <p:sp>
        <p:nvSpPr>
          <p:cNvPr id="16" name="Rounded Rectangle 15"/>
          <p:cNvSpPr/>
          <p:nvPr/>
        </p:nvSpPr>
        <p:spPr>
          <a:xfrm>
            <a:off x="7086600" y="4389120"/>
            <a:ext cx="4572000" cy="658368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4453128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E2E de verdade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700016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30" b="0">
                <a:solidFill>
                  <a:srgbClr val="93A4C3"/>
                </a:solidFill>
                <a:latin typeface="Segoe UI"/>
              </a:rPr>
              <a:t>~90 asserções HTTP reais contra a API no ar; cada estado é lido de volta por GET (cancelou? está livre no mapa).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5148072"/>
            <a:ext cx="4572000" cy="658368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52120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Caça-bugs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5458968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30" b="0">
                <a:solidFill>
                  <a:srgbClr val="93A4C3"/>
                </a:solidFill>
                <a:latin typeface="Segoe UI"/>
              </a:rPr>
              <a:t>o E2E achou e matou os 3 últimos defeitos: sessão-fantasma, Alert no-op na web e flash branco dos botões.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399453" cy="274320"/>
          </a:xfrm>
          <a:prstGeom prst="roundRect">
            <a:avLst>
              <a:gd name="adj" fmla="val 50000"/>
            </a:avLst>
          </a:prstGeom>
          <a:solidFill>
            <a:srgbClr val="101B31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850" b="1">
                <a:solidFill>
                  <a:srgbClr val="2563EB"/>
                </a:solidFill>
                <a:latin typeface="Segoe UI"/>
              </a:rPr>
              <a:t>ROADMAP · AS 5 MARCAS DO PEX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Entregas em ritmo, com uma adiantada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Smart Parking · pitch PEX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73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09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881360" cy="768096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0253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10/09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874519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34D399"/>
                </a:solidFill>
                <a:latin typeface="Segoe UI"/>
              </a:rPr>
              <a:t>1 · Banco de dados modelado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185416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19" b="0">
                <a:solidFill>
                  <a:srgbClr val="93A4C3"/>
                </a:solidFill>
                <a:latin typeface="Segoe UI"/>
              </a:rPr>
              <a:t>Modelagem completa: usuários e papéis, estacionamentos → andares → vagas, reservas, pagamentos, sensores, revogação.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95560" y="2002536"/>
            <a:ext cx="1180253" cy="274320"/>
          </a:xfrm>
          <a:prstGeom prst="roundRect">
            <a:avLst>
              <a:gd name="adj" fmla="val 50000"/>
            </a:avLst>
          </a:prstGeom>
          <a:solidFill>
            <a:srgbClr val="101B31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850" b="1">
                <a:solidFill>
                  <a:srgbClr val="2563EB"/>
                </a:solidFill>
                <a:latin typeface="Segoe UI"/>
              </a:rPr>
              <a:t>✔ entregue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97480"/>
            <a:ext cx="10881360" cy="768096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1693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22/10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788920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34D399"/>
                </a:solidFill>
                <a:latin typeface="Segoe UI"/>
              </a:rPr>
              <a:t>2 · MVP operacional completo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099816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19" b="0">
                <a:solidFill>
                  <a:srgbClr val="93A4C3"/>
                </a:solidFill>
                <a:latin typeface="Segoe UI"/>
              </a:rPr>
              <a:t>API 71 rotas + 11 telas + painel; RF-47 de ponta a ponta; IoT; QR; Pix; nginx+Docker; E2E exit 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95560" y="2916936"/>
            <a:ext cx="1451186" cy="274320"/>
          </a:xfrm>
          <a:prstGeom prst="roundRect">
            <a:avLst>
              <a:gd name="adj" fmla="val 50000"/>
            </a:avLst>
          </a:prstGeom>
          <a:solidFill>
            <a:srgbClr val="101B31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850" b="1">
                <a:solidFill>
                  <a:srgbClr val="2563EB"/>
                </a:solidFill>
                <a:latin typeface="Segoe UI"/>
              </a:rPr>
              <a:t>✔ esta entrega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80"/>
            <a:ext cx="10881360" cy="768096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3133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02/11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703320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34D399"/>
                </a:solidFill>
                <a:latin typeface="Segoe UI"/>
              </a:rPr>
              <a:t>3 · Relatórios prontos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014216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19" b="0">
                <a:solidFill>
                  <a:srgbClr val="93A4C3"/>
                </a:solidFill>
                <a:latin typeface="Segoe UI"/>
              </a:rPr>
              <a:t>7 endpoints de ocupação e faturamento consumidos pelo painel com escopo por estacionamento.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3831336"/>
            <a:ext cx="1247986" cy="274320"/>
          </a:xfrm>
          <a:prstGeom prst="roundRect">
            <a:avLst>
              <a:gd name="adj" fmla="val 50000"/>
            </a:avLst>
          </a:prstGeom>
          <a:solidFill>
            <a:srgbClr val="101B31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850" b="1">
                <a:solidFill>
                  <a:srgbClr val="2563EB"/>
                </a:solidFill>
                <a:latin typeface="Segoe UI"/>
              </a:rPr>
              <a:t>✔ adiantado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26280"/>
            <a:ext cx="10881360" cy="768096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74573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09/11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617720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BBF24"/>
                </a:solidFill>
                <a:latin typeface="Segoe UI"/>
              </a:rPr>
              <a:t>4 · Testes &amp; documentação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928616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19" b="0">
                <a:solidFill>
                  <a:srgbClr val="93A4C3"/>
                </a:solidFill>
                <a:latin typeface="Segoe UI"/>
              </a:rPr>
              <a:t>51 testes + E2E versionado + docs de integração/arquitetura/segurança; roteiro de banca em curso.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4745736"/>
            <a:ext cx="1180253" cy="274320"/>
          </a:xfrm>
          <a:prstGeom prst="roundRect">
            <a:avLst>
              <a:gd name="adj" fmla="val 50000"/>
            </a:avLst>
          </a:prstGeom>
          <a:solidFill>
            <a:srgbClr val="101B31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850" b="1">
                <a:solidFill>
                  <a:srgbClr val="2563EB"/>
                </a:solidFill>
                <a:latin typeface="Segoe UI"/>
              </a:rPr>
              <a:t>🟡 em curso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440680"/>
            <a:ext cx="10881360" cy="768096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66013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12/11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5532120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93A4C3"/>
                </a:solidFill>
                <a:latin typeface="Segoe UI"/>
              </a:rPr>
              <a:t>5 · Entrega Integrada Funcional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5843016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19" b="0">
                <a:solidFill>
                  <a:srgbClr val="93A4C3"/>
                </a:solidFill>
                <a:latin typeface="Segoe UI"/>
              </a:rPr>
              <a:t>Apresentação ao vivo: sensor → mapa → reserva → cancelamento → relatório, no docker + Expo Go.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95560" y="5660136"/>
            <a:ext cx="1112520" cy="274320"/>
          </a:xfrm>
          <a:prstGeom prst="roundRect">
            <a:avLst>
              <a:gd name="adj" fmla="val 50000"/>
            </a:avLst>
          </a:prstGeom>
          <a:solidFill>
            <a:srgbClr val="101B31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850" b="1">
                <a:solidFill>
                  <a:srgbClr val="2563EB"/>
                </a:solidFill>
                <a:latin typeface="Segoe UI"/>
              </a:rPr>
              <a:t>⬜ próxima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941320" cy="274320"/>
          </a:xfrm>
          <a:prstGeom prst="roundRect">
            <a:avLst>
              <a:gd name="adj" fmla="val 50000"/>
            </a:avLst>
          </a:prstGeom>
          <a:solidFill>
            <a:srgbClr val="101B31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850" b="1">
                <a:solidFill>
                  <a:srgbClr val="2563EB"/>
                </a:solidFill>
                <a:latin typeface="Segoe UI"/>
              </a:rPr>
              <a:t>COMO USAR · RODA EM QUALQUER MÁQUINA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Três terminais e está no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Smart Parking · pitch PEX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73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49240" cy="1783080"/>
          </a:xfrm>
          <a:prstGeom prst="roundRect">
            <a:avLst>
              <a:gd name="adj" fmla="val 5500"/>
            </a:avLst>
          </a:prstGeom>
          <a:solidFill>
            <a:srgbClr val="050B18"/>
          </a:solidFill>
          <a:ln w="9525">
            <a:solidFill>
              <a:srgbClr val="1D2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9DC1FF"/>
                </a:solidFill>
                <a:latin typeface="Consolas"/>
              </a:rPr>
              <a:t>$ docker compose -f src/docker-compose.yml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5C7299"/>
                </a:solidFill>
                <a:latin typeface="Consolas"/>
              </a:rPr>
              <a:t># API+DB no :80 via nginx, app web servido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6148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9DC1FF"/>
                </a:solidFill>
                <a:latin typeface="Consolas"/>
              </a:rPr>
              <a:t>$ ./src/run-dev.sh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5C7299"/>
                </a:solidFill>
                <a:latin typeface="Consolas"/>
              </a:rPr>
              <a:t># sem Docker: venv + migrações + seed + API :8000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5349240" cy="1783080"/>
          </a:xfrm>
          <a:prstGeom prst="roundRect">
            <a:avLst>
              <a:gd name="adj" fmla="val 5500"/>
            </a:avLst>
          </a:prstGeom>
          <a:solidFill>
            <a:srgbClr val="050B18"/>
          </a:solidFill>
          <a:ln w="9525">
            <a:solidFill>
              <a:srgbClr val="1D2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9DC1FF"/>
                </a:solidFill>
                <a:latin typeface="Consolas"/>
              </a:rPr>
              <a:t>$ cd src/frontend/smart-parking &amp;&amp; npx expo 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5C7299"/>
                </a:solidFill>
                <a:latin typeface="Consolas"/>
              </a:rPr>
              <a:t># celular na LAN: a URL se resolve sozinha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6148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9DC1FF"/>
                </a:solidFill>
                <a:latin typeface="Consolas"/>
              </a:rPr>
              <a:t>$ ./scripts/check_conexao.sh --fix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3580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5C7299"/>
                </a:solidFill>
                <a:latin typeface="Consolas"/>
              </a:rPr>
              <a:t># acha e valida o caminho sozinho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77639"/>
            <a:ext cx="3520440" cy="196596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133087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👤 Motorista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52628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80" b="0">
                <a:solidFill>
                  <a:srgbClr val="93A4C3"/>
                </a:solidFill>
                <a:latin typeface="Segoe UI"/>
              </a:rPr>
              <a:t>cadastre-se ou use motorista@smartparking.com do seed; explore o Amazonas, peça a próxima vaga e reserve.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1688" y="3977639"/>
            <a:ext cx="3520440" cy="196596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4133087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👨‍💼 Gestor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452628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80" b="0">
                <a:solidFill>
                  <a:srgbClr val="93A4C3"/>
                </a:solidFill>
                <a:latin typeface="Segoe UI"/>
              </a:rPr>
              <a:t>admin@smartparking.com / admin123: crie um andar, gere 40 vagas em lote, abra o simulador QR.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3977639"/>
            <a:ext cx="3520440" cy="196596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5" y="4133087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📡 IoT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452628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80" b="0">
                <a:solidFill>
                  <a:srgbClr val="93A4C3"/>
                </a:solidFill>
                <a:latin typeface="Segoe UI"/>
              </a:rPr>
              <a:t>emita a chave do sensor no painel e POST /api/sensores/eventos — a célula muda no mapa do celular em tempo real.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789853" cy="274320"/>
          </a:xfrm>
          <a:prstGeom prst="roundRect">
            <a:avLst>
              <a:gd name="adj" fmla="val 50000"/>
            </a:avLst>
          </a:prstGeom>
          <a:solidFill>
            <a:srgbClr val="101B31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850" b="1">
                <a:solidFill>
                  <a:srgbClr val="2563EB"/>
                </a:solidFill>
                <a:latin typeface="Segoe UI"/>
              </a:rPr>
              <a:t>O QUE VEM COM O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Quanto mais roda, mais inteligente fica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Smart Parking · pitch PEX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73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49240" cy="356616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9339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🔁  O ciclo de dados (já plantado)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487168"/>
            <a:ext cx="4617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19" b="0">
                <a:solidFill>
                  <a:srgbClr val="E6EDF7"/>
                </a:solidFill>
                <a:latin typeface="Segoe UI"/>
              </a:rPr>
              <a:t>cada reserva, cancelamento e evento de sensor engrossa histórico estruturado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5409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3054096"/>
            <a:ext cx="4617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19" b="0">
                <a:solidFill>
                  <a:srgbClr val="E6EDF7"/>
                </a:solidFill>
                <a:latin typeface="Segoe UI"/>
              </a:rPr>
              <a:t>histórico → ocupação por andar/hora/dia nos relatórios; amanhã, em previsão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21024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3621024"/>
            <a:ext cx="4617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19" b="0">
                <a:solidFill>
                  <a:srgbClr val="E6EDF7"/>
                </a:solidFill>
                <a:latin typeface="Segoe UI"/>
              </a:rPr>
              <a:t>previsão → "chegue até 14h: 87% de chance de vaga" e preço dinâmico por pico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8795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4187952"/>
            <a:ext cx="4617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19" b="0">
                <a:solidFill>
                  <a:srgbClr val="E6EDF7"/>
                </a:solidFill>
                <a:latin typeface="Segoe UI"/>
              </a:rPr>
              <a:t>no-show do motorista → punição suave e fila de espera por andar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828800"/>
            <a:ext cx="5349240" cy="356616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🧰  Melhorias básicas da fase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8716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2487168"/>
            <a:ext cx="4617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19" b="0">
                <a:solidFill>
                  <a:srgbClr val="E6EDF7"/>
                </a:solidFill>
                <a:latin typeface="Segoe UI"/>
              </a:rPr>
              <a:t>push: lembrete de expiração, "seu carro está no P2"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5409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3054096"/>
            <a:ext cx="4617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19" b="0">
                <a:solidFill>
                  <a:srgbClr val="E6EDF7"/>
                </a:solidFill>
                <a:latin typeface="Segoe UI"/>
              </a:rPr>
              <a:t>cobrança por minuto via leitura de placa + Pix (fluxo já existe)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21024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8" y="3621024"/>
            <a:ext cx="4617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19" b="0">
                <a:solidFill>
                  <a:srgbClr val="E6EDF7"/>
                </a:solidFill>
                <a:latin typeface="Segoe UI"/>
              </a:rPr>
              <a:t>catraca real: o QR de sessão e o contrato de sensores são o encaixe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8795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8" y="4187952"/>
            <a:ext cx="4617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19" b="0">
                <a:solidFill>
                  <a:srgbClr val="E6EDF7"/>
                </a:solidFill>
                <a:latin typeface="Segoe UI"/>
              </a:rPr>
              <a:t>fila de espera com prioridade PCD/idoso e reserva recorrente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7548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4754880"/>
            <a:ext cx="4617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19" b="0">
                <a:solidFill>
                  <a:srgbClr val="E6EDF7"/>
                </a:solidFill>
                <a:latin typeface="Segoe UI"/>
              </a:rPr>
              <a:t>cache offline → fila de sincronização quando o sinal voltar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93A4C3"/>
                </a:solidFill>
                <a:latin typeface="Segoe UI"/>
              </a:rPr>
              <a:t>Nada disso é retrabalho: os pontos de encaixe (histórico, QR, chaves, relatórios) foram construídos nesta rodada.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pa.png"/>
          <p:cNvPicPr>
            <a:picLocks noChangeAspect="1"/>
          </p:cNvPicPr>
          <p:nvPr/>
        </p:nvPicPr>
        <p:blipFill>
          <a:blip r:embed="rId2"/>
          <a:srcRect l="33877" r="33877"/>
          <a:stretch>
            <a:fillRect/>
          </a:stretch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40080"/>
            <a:ext cx="1180253" cy="274320"/>
          </a:xfrm>
          <a:prstGeom prst="roundRect">
            <a:avLst>
              <a:gd name="adj" fmla="val 50000"/>
            </a:avLst>
          </a:prstGeom>
          <a:solidFill>
            <a:srgbClr val="101B31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850" b="1">
                <a:solidFill>
                  <a:srgbClr val="2563EB"/>
                </a:solidFill>
                <a:latin typeface="Segoe UI"/>
              </a:rPr>
              <a:t>FECHAMENTO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7406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Segoe UI"/>
              </a:rPr>
              <a:t>Smart Parking não é um app de vaga.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9DC1FF"/>
                </a:solidFill>
                <a:latin typeface="Segoe UI"/>
              </a:rPr>
              <a:t>É infraestrutura de tempo — e está rodando.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1764792" cy="105156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89504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15727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780" b="0">
                <a:solidFill>
                  <a:srgbClr val="93A4C3"/>
                </a:solidFill>
                <a:latin typeface="Segoe UI"/>
              </a:rPr>
              <a:t>rotas com papéis e escopo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2788920"/>
            <a:ext cx="1764792" cy="105156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2889504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28/28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291840"/>
            <a:ext cx="15727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780" b="0">
                <a:solidFill>
                  <a:srgbClr val="93A4C3"/>
                </a:solidFill>
                <a:latin typeface="Segoe UI"/>
              </a:rPr>
              <a:t>jornadas E2E + matriz 27/27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788920"/>
            <a:ext cx="1764792" cy="105156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889504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291840"/>
            <a:ext cx="15727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780" b="0">
                <a:solidFill>
                  <a:srgbClr val="93A4C3"/>
                </a:solidFill>
                <a:latin typeface="Segoe UI"/>
              </a:rPr>
              <a:t>testes · ruff e tsc limpos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788920"/>
            <a:ext cx="1764792" cy="1051560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889504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exit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91840"/>
            <a:ext cx="15727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780" b="0">
                <a:solidFill>
                  <a:srgbClr val="93A4C3"/>
                </a:solidFill>
                <a:latin typeface="Segoe UI"/>
              </a:rPr>
              <a:t>falhas zero, véspera de banca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14800"/>
            <a:ext cx="7452360" cy="1060704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7132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Pedido à banca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17136"/>
            <a:ext cx="7132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abrir o app, reservar no mapa, ver o sensor mudar a célula, cancelar e o relatório responder na hora. A segurança se mostra pelos 401/403/410 da matriz executada.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85232"/>
            <a:ext cx="7452360" cy="1060704"/>
          </a:xfrm>
          <a:prstGeom prst="roundRect">
            <a:avLst>
              <a:gd name="adj" fmla="val 5500"/>
            </a:avLst>
          </a:prstGeom>
          <a:solidFill>
            <a:srgbClr val="111C33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376672"/>
            <a:ext cx="7132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Equipe &amp; licença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87568"/>
            <a:ext cx="7132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Breno Santos · Gabriel Almeida · Jonas Almeida — PEX Manaus/AM · MIT
github.com/beh-S4nt05/smart-parking-pex · behsolutionsandautomations@gmail.com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2004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💙  Obrigado — alguma pergunta?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Smart Parking · pitch PEX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7215" y="6473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5C6F92"/>
                </a:solidFill>
                <a:latin typeface="Segoe U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